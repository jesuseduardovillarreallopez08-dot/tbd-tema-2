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12E74-D9E6-8677-CE57-D35B77742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A188FD-F0ED-2F30-783C-4AB59FC98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E280BC-C15C-9AB7-5CE2-8870B091D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A5C1-7173-49F4-AA01-5F759022BA62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5E0F57-4117-E1ED-BC0C-F0AC8DBE5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5F92B1-4F96-DE6C-6ABA-FF5A106DB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B003-48B8-4AF6-B1BE-2745AD70AC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95058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4D8797-5932-83E9-2D47-2726042C2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570754-3D2C-0CC1-AE4B-39D0C4865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60C46B-CB9D-5C5F-DF8E-8CA5E0230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A5C1-7173-49F4-AA01-5F759022BA62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329C48-2166-ADD1-EAB5-64C722CE2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42EE91-76BE-4E1C-54E2-27F240CE4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B003-48B8-4AF6-B1BE-2745AD70AC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5190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4A97C-5F54-B82C-7F9D-DC425A70C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8672E2-A393-CFDD-C923-B4C07C6BF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C3DBB6-95D4-56AA-77E2-B67FCF94F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A5C1-7173-49F4-AA01-5F759022BA62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4EFD63-8309-08C3-E15E-D25478BFD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B03D41-37A3-1CE4-D5AB-F8668FD98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B003-48B8-4AF6-B1BE-2745AD70AC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8133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1BB5EE-E04D-2D86-9F59-D11BDE9A8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5688F9-BADC-1473-D05C-C0E10B3B85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CB0FD8A-504D-84D9-07BC-4D3A619027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2A3F40-A468-3AE3-D933-72F6CE286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A5C1-7173-49F4-AA01-5F759022BA62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446B49D-F294-26B8-F543-963A5C99C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91C7AC-6F2B-8AF6-DDBD-644D2B32D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B003-48B8-4AF6-B1BE-2745AD70AC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9609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2E1EBE-76B0-0B93-736A-D6089FC70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91F725-E903-6CC8-3083-567F49E3C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CA4DB0D-B2B1-E39A-C276-2C0B746FC7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4DB060B-A8DD-76BF-D869-E01466D5E8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C1F7FCD-0F88-859A-4356-32DBBB96AD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3793DAE-FC54-EFEC-1214-0D5406621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A5C1-7173-49F4-AA01-5F759022BA62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0B70D39-8F39-6720-818E-2CC564026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8DAC6F3-B57C-4F7B-1177-B60A31F3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B003-48B8-4AF6-B1BE-2745AD70AC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9336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B2254B-9975-CC75-BB84-D455C58ED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52A7911-6ABC-AF19-688F-492DF02C0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A5C1-7173-49F4-AA01-5F759022BA62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9D036BF-7C34-9981-1F87-CB5F65111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74CCF91-B178-5928-EC1E-810AB1AF3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B003-48B8-4AF6-B1BE-2745AD70AC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941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C6A9425-D25B-8E2D-2D31-5E3C5A5D1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A5C1-7173-49F4-AA01-5F759022BA62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C181D23-C17C-BD59-7197-B748A96B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FE44F54-0782-2975-BE91-B7C4459C6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B003-48B8-4AF6-B1BE-2745AD70AC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8011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21544-9E90-EB08-970C-6E6071004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1CBC4E-9843-015D-C1ED-EFF8C7D20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9DA56C3-F4AB-8D29-6FCD-064A026B1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70E76EF-36A7-02A5-4D42-52D9DBC9C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A5C1-7173-49F4-AA01-5F759022BA62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23B5D4-F1BD-D238-841C-BA8BA0F17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7181CB-7BA8-4A2B-F10D-D4F898AB1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B003-48B8-4AF6-B1BE-2745AD70AC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9188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B6ABDC-BB6A-250B-958B-C685FB28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EBEEC4B-FA77-0090-9F5E-52A4D10B1C7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FED89C-1567-5251-0A53-F39E5D4A6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249D556-3799-3893-8A70-E01D20CBA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A5C1-7173-49F4-AA01-5F759022BA62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43EA4BF-8217-DE22-099D-A602AD58C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8AC62D-0997-0036-FD9A-541778BFA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B003-48B8-4AF6-B1BE-2745AD70AC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6446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301CA5-906B-89D2-BD13-37837910B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AA1BF8A-5316-99D4-B778-2BE59A0E7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D75281-F6A8-FB75-BE0D-294376892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A5C1-7173-49F4-AA01-5F759022BA62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E54393-541C-3724-BB35-B962C7E29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FA21A8-DF15-A7CA-582D-7907554AA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B003-48B8-4AF6-B1BE-2745AD70AC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12111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DB3E6E1-1E06-ACC3-3E32-B4B08F00E9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8C98A3-12A4-C130-1862-F973D6914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9C1AD4-440B-EFA2-3F8E-076752BC5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A5C1-7173-49F4-AA01-5F759022BA62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064429-6091-A72B-E3F1-CC800F0FC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B1E47A-7C6E-AAC0-EF52-7246E9851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B003-48B8-4AF6-B1BE-2745AD70AC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5520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48B9D7A-51FD-64C8-85EB-4807451F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58E556-7871-BF4E-97B0-E918D18FA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E7AAA5-6242-43FF-96E9-41B2A31BCA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4BA5C1-7173-49F4-AA01-5F759022BA62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0B78F9-0D76-C394-C455-6D1A970BD0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A3DA47-4934-4834-4043-4DB95E2D77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10B003-48B8-4AF6-B1BE-2745AD70AC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81167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docs/" TargetMode="External"/><Relationship Id="rId2" Type="http://schemas.openxmlformats.org/officeDocument/2006/relationships/hyperlink" Target="https://docs.oracle.com/en/jav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spring.io/spring-boot/docs/current/reference/htm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5155FD-4400-1949-7D48-7D368E2F35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895BDC-BDC9-61B3-273B-FC49B249FC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544E0FF-85CF-8086-1C12-CAEF875C7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2">
            <a:extLst>
              <a:ext uri="{FF2B5EF4-FFF2-40B4-BE49-F238E27FC236}">
                <a16:creationId xmlns:a16="http://schemas.microsoft.com/office/drawing/2014/main" id="{11515F15-8C63-BCBA-C520-411E4EBDD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748" y="582066"/>
            <a:ext cx="10284542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MX" altLang="es-MX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TECNOLOGICO NACIONAL DE MEXICO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INSTITUTO TECNOLOGICO DE FRONTERA COMALAPA 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CARRERA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INGENIERIA EN SISTEMAS COMPUTACIONALES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MATERIA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TALLER DE BASE DE DATOS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TRABAJO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REPORTE DE PRACTICA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CATEDRATICO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ING.FRANCISCO JAVIER MINGO VELAZQUEZ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ESTUDIANTE 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JESUS EDUARDO VILLARREAL LOPEZ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2412600</a:t>
            </a:r>
            <a:r>
              <a:rPr lang="es-MX" altLang="es-MX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76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SEMESTRE 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FRONTERA COMALAPA FECHA DE ENTREGA: </a:t>
            </a:r>
            <a:r>
              <a:rPr lang="es-MX" altLang="es-MX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08/09/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2026</a:t>
            </a:r>
            <a:endParaRPr kumimoji="0" lang="es-MX" altLang="es-MX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1" descr="Logos Oficiales – Tecnológico Nacional de México">
            <a:extLst>
              <a:ext uri="{FF2B5EF4-FFF2-40B4-BE49-F238E27FC236}">
                <a16:creationId xmlns:a16="http://schemas.microsoft.com/office/drawing/2014/main" id="{3347955A-817B-95EA-3A08-8CEDC2B5B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1738" y="684442"/>
            <a:ext cx="2386188" cy="105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 descr="Secretaría de Educación Pública | Secretaría de Educación ...">
            <a:extLst>
              <a:ext uri="{FF2B5EF4-FFF2-40B4-BE49-F238E27FC236}">
                <a16:creationId xmlns:a16="http://schemas.microsoft.com/office/drawing/2014/main" id="{2C71FF88-6510-5D57-2CF8-71AF26ED7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83894" y="597455"/>
            <a:ext cx="2120900" cy="105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2" descr="TecNM | Tecnológico Nacional de México">
            <a:extLst>
              <a:ext uri="{FF2B5EF4-FFF2-40B4-BE49-F238E27FC236}">
                <a16:creationId xmlns:a16="http://schemas.microsoft.com/office/drawing/2014/main" id="{FC01F475-3377-5BBC-0FB9-EC1F7F16E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0449" y="597455"/>
            <a:ext cx="1980841" cy="1265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8426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83D1A0-4D34-4A30-2E2B-B71C2CEC3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pPr algn="ctr"/>
            <a:r>
              <a:rPr lang="es-MX" sz="4800" b="1" dirty="0"/>
              <a:t>INTRODUCCIÓN</a:t>
            </a:r>
            <a:endParaRPr lang="es-MX" sz="4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7068B5-BE43-0506-62AB-1BAEADE7A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s-MX" sz="2400" dirty="0"/>
              <a:t>Las arquitecturas basadas en servicios Web </a:t>
            </a:r>
            <a:r>
              <a:rPr lang="es-MX" sz="2400" dirty="0" err="1"/>
              <a:t>RESTful</a:t>
            </a:r>
            <a:r>
              <a:rPr lang="es-MX" sz="2400" dirty="0"/>
              <a:t> permiten la comunicación desacoplada entre aplicaciones </a:t>
            </a:r>
            <a:r>
              <a:rPr lang="es-MX" sz="2400" dirty="0" err="1"/>
              <a:t>backend</a:t>
            </a:r>
            <a:r>
              <a:rPr lang="es-MX" sz="2400" dirty="0"/>
              <a:t> y diversos clientes (</a:t>
            </a:r>
            <a:r>
              <a:rPr lang="es-MX" sz="2400" dirty="0" err="1"/>
              <a:t>frontend</a:t>
            </a:r>
            <a:r>
              <a:rPr lang="es-MX" sz="2400" dirty="0"/>
              <a:t> web, aplicaciones móviles, etc.). En esta práctica se describe el proceso paso a paso para construir una API REST funcional utilizando el ecosistema de </a:t>
            </a:r>
            <a:r>
              <a:rPr lang="es-MX" sz="2400" b="1" dirty="0"/>
              <a:t>Spring Boot</a:t>
            </a:r>
            <a:r>
              <a:rPr lang="es-MX" sz="2400" dirty="0"/>
              <a:t>, aplicando patrones de diseño estándar en Java como entidades JPA, repositorios Spring Data y controladores de recursos HTTP.</a:t>
            </a:r>
          </a:p>
          <a:p>
            <a:endParaRPr lang="es-MX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551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45EBE8-2B4A-D418-0626-2E3AFED7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pPr algn="ctr"/>
            <a:r>
              <a:rPr lang="es-MX" sz="4800" b="1" dirty="0"/>
              <a:t>JUSTIFICACION</a:t>
            </a:r>
            <a:endParaRPr lang="es-MX" sz="4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C5A953-CFD7-6451-D8F4-69AC239AD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es-MX" sz="2400" dirty="0"/>
              <a:t>Configurar la estructura de un proyecto Spring Boot utilizando la arquitectura por capas (</a:t>
            </a:r>
            <a:r>
              <a:rPr lang="es-MX" sz="2400" dirty="0" err="1"/>
              <a:t>Controller</a:t>
            </a:r>
            <a:r>
              <a:rPr lang="es-MX" sz="2400" dirty="0"/>
              <a:t>, </a:t>
            </a:r>
            <a:r>
              <a:rPr lang="es-MX" sz="2400" dirty="0" err="1"/>
              <a:t>Entity</a:t>
            </a:r>
            <a:r>
              <a:rPr lang="es-MX" sz="2400" dirty="0"/>
              <a:t>, </a:t>
            </a:r>
            <a:r>
              <a:rPr lang="es-MX" sz="2400" dirty="0" err="1"/>
              <a:t>Repository</a:t>
            </a:r>
            <a:r>
              <a:rPr lang="es-MX" sz="2400" dirty="0"/>
              <a:t>). </a:t>
            </a:r>
          </a:p>
          <a:p>
            <a:pPr lvl="0"/>
            <a:r>
              <a:rPr lang="es-MX" sz="2400" dirty="0"/>
              <a:t>Definir un modelo de datos JPA (Contacto) para la persistencia en base de datos. </a:t>
            </a:r>
          </a:p>
          <a:p>
            <a:pPr lvl="0"/>
            <a:r>
              <a:rPr lang="es-MX" sz="2400" dirty="0"/>
              <a:t>Crear un repositorio con Spring Data JPA (</a:t>
            </a:r>
            <a:r>
              <a:rPr lang="es-MX" sz="2400" dirty="0" err="1"/>
              <a:t>ContactoRepository</a:t>
            </a:r>
            <a:r>
              <a:rPr lang="es-MX" sz="2400" dirty="0"/>
              <a:t>). </a:t>
            </a:r>
          </a:p>
          <a:p>
            <a:pPr lvl="0"/>
            <a:r>
              <a:rPr lang="es-MX" sz="2400" dirty="0"/>
              <a:t>Implementar un controlador @RestController (</a:t>
            </a:r>
            <a:r>
              <a:rPr lang="es-MX" sz="2400" dirty="0" err="1"/>
              <a:t>ContactoController</a:t>
            </a:r>
            <a:r>
              <a:rPr lang="es-MX" sz="2400" dirty="0"/>
              <a:t>) para manejar las operaciones HTTP CRUD (GET, POST, PUT, DELETE).</a:t>
            </a:r>
          </a:p>
          <a:p>
            <a:endParaRPr lang="es-MX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32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904557A-F3B7-82FD-5D81-944780CF2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s-MX" sz="3100" b="1"/>
              <a:t>Configuración Inicial e Importación en IntelliJ IDEA</a:t>
            </a:r>
            <a:endParaRPr lang="es-MX" sz="31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9DD9F8-3C41-2317-573E-06B315772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pPr lvl="0"/>
            <a:r>
              <a:rPr lang="es-MX" sz="1800"/>
              <a:t>Se inicializó un nuevo proyecto Spring Boot denominado </a:t>
            </a:r>
            <a:r>
              <a:rPr lang="es-MX" sz="1800" b="1"/>
              <a:t>mi-api-rest</a:t>
            </a:r>
            <a:r>
              <a:rPr lang="es-MX" sz="1800"/>
              <a:t> con el paquete base com.jesus.mi_api_rest. </a:t>
            </a:r>
          </a:p>
          <a:p>
            <a:pPr lvl="0"/>
            <a:r>
              <a:rPr lang="es-MX" sz="1800"/>
              <a:t>En la estructura del proyecto se organizaron los paquetes dentro de src/main/java/com/jesus/mi_api_rest: </a:t>
            </a:r>
          </a:p>
          <a:p>
            <a:pPr lvl="1"/>
            <a:r>
              <a:rPr lang="es-MX" sz="1800"/>
              <a:t>controller</a:t>
            </a:r>
          </a:p>
          <a:p>
            <a:pPr lvl="1"/>
            <a:r>
              <a:rPr lang="es-MX" sz="1800"/>
              <a:t>entity</a:t>
            </a:r>
          </a:p>
          <a:p>
            <a:pPr lvl="1"/>
            <a:r>
              <a:rPr lang="es-MX" sz="1800"/>
              <a:t>repository</a:t>
            </a:r>
          </a:p>
          <a:p>
            <a:pPr lvl="0"/>
            <a:r>
              <a:rPr lang="es-MX" sz="1800"/>
              <a:t>Se verificaron las dependencias en el archivo pom.xml (Spring Web, Spring Data JPA, y el driver de base de datos correspondiente)</a:t>
            </a:r>
          </a:p>
          <a:p>
            <a:endParaRPr lang="es-MX" sz="180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CE049DA-75A3-784E-41F3-F07394039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493" y="2281911"/>
            <a:ext cx="4223252" cy="2354462"/>
          </a:xfrm>
          <a:prstGeom prst="rect">
            <a:avLst/>
          </a:prstGeom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507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9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4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12B1EA1-B4C8-7471-1A88-D678A758C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s-MX" sz="3300" b="1"/>
              <a:t>Definición del Repositorio (ContactoRepository.java)</a:t>
            </a:r>
            <a:endParaRPr lang="es-MX" sz="33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1DAA44-3CAB-39E3-9244-4DAEE63A7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es-MX" sz="1800"/>
              <a:t>En el paquete repository, se creó la interfaz ContactoRepository extendiendo de JpaRepository para obtener métodos CRUD listos para usar (findAll, findById, save, deleteById): </a:t>
            </a:r>
          </a:p>
          <a:p>
            <a:endParaRPr lang="es-MX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B260B82-4856-0476-70E6-FBE7CFDDC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493" y="2271352"/>
            <a:ext cx="4223252" cy="2375579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929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CAFB68-2114-6E5C-4C2D-24733D251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MX" sz="4100" b="1"/>
              <a:t>Implementación del Controlador REST (ContactoController.java)</a:t>
            </a:r>
            <a:endParaRPr lang="es-MX" sz="41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632DDE-FAAA-6E38-E05B-5B9A9DE37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s-MX" sz="2000"/>
              <a:t>En el paquete controller, se creó la clase ContactoController expuesta en la ruta base /api/contactos. Se inyectó el repositorio mediante @Autowired y se definieron los endpoints HTTP principales:</a:t>
            </a:r>
          </a:p>
          <a:p>
            <a:endParaRPr lang="es-MX" sz="20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EF488CD-1FC1-BF48-8799-3A1E970A7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92861"/>
            <a:ext cx="5150277" cy="289703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450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DC7FCE-BC36-E365-D803-30A6D591E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MX" sz="4100" b="1"/>
              <a:t>Configuración del Archivo application.properties</a:t>
            </a:r>
            <a:endParaRPr lang="es-MX" sz="41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551E77-E3F4-FAF6-3E9A-29B02BE42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s-MX" sz="2000"/>
              <a:t>En el archivo src/main/resources/application.properties, se configuraron los parámetros de la base de datos (p. ej., H2 en memoria o PostgreSQL): </a:t>
            </a:r>
          </a:p>
          <a:p>
            <a:endParaRPr lang="es-MX" sz="20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009A50F-A71E-F59D-6065-2399E7B3B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92861"/>
            <a:ext cx="5150277" cy="289703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37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7B0C66-C208-E94D-9FED-E4250A756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s-MX" sz="3300" b="1"/>
              <a:t>Compilación y Pruebas de Endpoints</a:t>
            </a:r>
            <a:endParaRPr lang="es-MX" sz="33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CCD859-5456-BE66-EF56-662F8DD54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pPr lvl="0"/>
            <a:r>
              <a:rPr lang="es-MX" sz="1500"/>
              <a:t>Se ejecutó la clase principal MiApiRestApplication.java desde IntelliJ IDEA. </a:t>
            </a:r>
          </a:p>
          <a:p>
            <a:pPr lvl="0"/>
            <a:r>
              <a:rPr lang="es-MX" sz="1500"/>
              <a:t>Se verificó el funcionamiento enviando solicitudes HTTP (mediante cliente REST como Bruno, Postman o Curl):</a:t>
            </a:r>
          </a:p>
          <a:p>
            <a:pPr lvl="1"/>
            <a:r>
              <a:rPr lang="es-MX" sz="1500" b="1"/>
              <a:t>GET http://localhost:8080/api/contactos</a:t>
            </a:r>
            <a:r>
              <a:rPr lang="es-MX" sz="1500"/>
              <a:t>: Retorna el listado completo JSON de contactos. </a:t>
            </a:r>
          </a:p>
          <a:p>
            <a:pPr lvl="1"/>
            <a:r>
              <a:rPr lang="es-MX" sz="1500" b="1"/>
              <a:t>POST http://localhost:8080/api/contactos</a:t>
            </a:r>
            <a:r>
              <a:rPr lang="es-MX" sz="1500"/>
              <a:t>: Crea un registro enviando un cuerpo en formato JSON. </a:t>
            </a:r>
          </a:p>
          <a:p>
            <a:pPr lvl="1"/>
            <a:r>
              <a:rPr lang="es-MX" sz="1500" b="1"/>
              <a:t>GET http://localhost:8080/api/contactos/{id}</a:t>
            </a:r>
            <a:r>
              <a:rPr lang="es-MX" sz="1500"/>
              <a:t>: Retorna el contacto especificado o código HTTP 404 Not Found si no existe. </a:t>
            </a:r>
          </a:p>
          <a:p>
            <a:endParaRPr lang="es-MX" sz="15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AFA796F-6B72-4EA1-7805-6F995120D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493" y="2271352"/>
            <a:ext cx="4223252" cy="2375579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777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218CD7-D4C4-AE0C-5830-C645A872C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pPr algn="ctr"/>
            <a:r>
              <a:rPr lang="es-MX" sz="5400" b="1" dirty="0"/>
              <a:t>CONCLUSIÓN</a:t>
            </a:r>
            <a:endParaRPr lang="es-MX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B78446-33FF-A925-12AE-A95720CA5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s-MX" sz="2000" b="1"/>
          </a:p>
          <a:p>
            <a:r>
              <a:rPr lang="es-MX" sz="2000"/>
              <a:t>Se logró implementar con éxito la API RESTful mi-api-rest aplicando una arquitectura limpia en tres capas (Controller, Entity y Repository). Gracias a Spring Boot y Spring Data JPA, se redujo drásticamente el código boilerplate necesario para la persistencia y la exposición de endpoints HTTP, facilitando el mantenimiento y escalabilidad del proyecto. </a:t>
            </a:r>
          </a:p>
          <a:p>
            <a:endParaRPr lang="es-MX" sz="2000"/>
          </a:p>
        </p:txBody>
      </p:sp>
    </p:spTree>
    <p:extLst>
      <p:ext uri="{BB962C8B-B14F-4D97-AF65-F5344CB8AC3E}">
        <p14:creationId xmlns:p14="http://schemas.microsoft.com/office/powerpoint/2010/main" val="3678094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893B7D-6E5E-A35A-CC04-293126544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s-MX" sz="5400" b="1"/>
              <a:t>FUENTES DE INFORMACIÓN</a:t>
            </a:r>
            <a:endParaRPr lang="es-MX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526D7D-5C10-4433-6B93-AF2D71459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lvl="0"/>
            <a:r>
              <a:rPr lang="es-MX" sz="2000" b="1"/>
              <a:t>Deitel, P., &amp; Deitel, H.</a:t>
            </a:r>
            <a:r>
              <a:rPr lang="es-MX" sz="2000"/>
              <a:t> (2017). </a:t>
            </a:r>
            <a:r>
              <a:rPr lang="es-MX" sz="2000" i="1"/>
              <a:t>Java How to Program (Early Objects)</a:t>
            </a:r>
            <a:r>
              <a:rPr lang="es-MX" sz="2000"/>
              <a:t> (11th ed.). Pearson.</a:t>
            </a:r>
          </a:p>
          <a:p>
            <a:pPr lvl="0"/>
            <a:r>
              <a:rPr lang="es-MX" sz="2000" b="1"/>
              <a:t>Oracle Corporation.</a:t>
            </a:r>
            <a:r>
              <a:rPr lang="es-MX" sz="2000"/>
              <a:t> (2026). </a:t>
            </a:r>
            <a:r>
              <a:rPr lang="es-MX" sz="2000" i="1"/>
              <a:t>The Java Tutorials: Java Persistence API &amp; Spring Annotations</a:t>
            </a:r>
            <a:r>
              <a:rPr lang="es-MX" sz="2000"/>
              <a:t>. Recuperado de </a:t>
            </a:r>
            <a:r>
              <a:rPr lang="es-MX" sz="2000">
                <a:hlinkClick r:id="rId2"/>
              </a:rPr>
              <a:t>https://docs.oracle.com/en/java/</a:t>
            </a:r>
            <a:endParaRPr lang="es-MX" sz="2000"/>
          </a:p>
          <a:p>
            <a:pPr lvl="0"/>
            <a:r>
              <a:rPr lang="es-MX" sz="2000" b="1"/>
              <a:t>PostgreSQL Global Development Group.</a:t>
            </a:r>
            <a:r>
              <a:rPr lang="es-MX" sz="2000"/>
              <a:t> (2026). </a:t>
            </a:r>
            <a:r>
              <a:rPr lang="es-MX" sz="2000" i="1"/>
              <a:t>PostgreSQL 17.5 Documentation: Database Administration and Connectors</a:t>
            </a:r>
            <a:r>
              <a:rPr lang="es-MX" sz="2000"/>
              <a:t>. Recuperado de </a:t>
            </a:r>
            <a:r>
              <a:rPr lang="es-MX" sz="2000">
                <a:hlinkClick r:id="rId3"/>
              </a:rPr>
              <a:t>https://www.postgresql.org/docs/</a:t>
            </a:r>
            <a:endParaRPr lang="es-MX" sz="2000"/>
          </a:p>
          <a:p>
            <a:pPr lvl="0"/>
            <a:r>
              <a:rPr lang="es-MX" sz="2000" b="1"/>
              <a:t>Spring Team.</a:t>
            </a:r>
            <a:r>
              <a:rPr lang="es-MX" sz="2000"/>
              <a:t> (2026). </a:t>
            </a:r>
            <a:r>
              <a:rPr lang="es-MX" sz="2000" i="1"/>
              <a:t>Spring Boot Reference Documentation (v3.2.5)</a:t>
            </a:r>
            <a:r>
              <a:rPr lang="es-MX" sz="2000"/>
              <a:t>. VMware Tanzu. Recuperado de </a:t>
            </a:r>
            <a:r>
              <a:rPr lang="es-MX" sz="2000">
                <a:hlinkClick r:id="rId4"/>
              </a:rPr>
              <a:t>https://docs.spring.io/spring-boot/docs/current/reference/html/</a:t>
            </a:r>
            <a:endParaRPr lang="es-MX" sz="2000"/>
          </a:p>
          <a:p>
            <a:pPr lvl="0"/>
            <a:r>
              <a:rPr lang="es-MX" sz="2000" b="1"/>
              <a:t>Walls, C.</a:t>
            </a:r>
            <a:r>
              <a:rPr lang="es-MX" sz="2000"/>
              <a:t> (2022). </a:t>
            </a:r>
            <a:r>
              <a:rPr lang="es-MX" sz="2000" i="1"/>
              <a:t>Spring in Action</a:t>
            </a:r>
            <a:r>
              <a:rPr lang="es-MX" sz="2000"/>
              <a:t> (6th ed.). Manning Publications.</a:t>
            </a:r>
          </a:p>
          <a:p>
            <a:endParaRPr lang="es-MX" sz="2000"/>
          </a:p>
        </p:txBody>
      </p:sp>
    </p:spTree>
    <p:extLst>
      <p:ext uri="{BB962C8B-B14F-4D97-AF65-F5344CB8AC3E}">
        <p14:creationId xmlns:p14="http://schemas.microsoft.com/office/powerpoint/2010/main" val="42812027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701</Words>
  <Application>Microsoft Office PowerPoint</Application>
  <PresentationFormat>Panorámica</PresentationFormat>
  <Paragraphs>52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Tema de Office</vt:lpstr>
      <vt:lpstr>o</vt:lpstr>
      <vt:lpstr>INTRODUCCIÓN</vt:lpstr>
      <vt:lpstr>JUSTIFICACION</vt:lpstr>
      <vt:lpstr>Configuración Inicial e Importación en IntelliJ IDEA</vt:lpstr>
      <vt:lpstr>Definición del Repositorio (ContactoRepository.java)</vt:lpstr>
      <vt:lpstr>Implementación del Controlador REST (ContactoController.java)</vt:lpstr>
      <vt:lpstr>Configuración del Archivo application.properties</vt:lpstr>
      <vt:lpstr>Compilación y Pruebas de Endpoints</vt:lpstr>
      <vt:lpstr>CONCLUSIÓN</vt:lpstr>
      <vt:lpstr>FUENTES DE INFORMACIÓN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Jesus Eduardo Villarreal Lopez</dc:creator>
  <cp:lastModifiedBy>Jesus Eduardo Villarreal Lopez</cp:lastModifiedBy>
  <cp:revision>1</cp:revision>
  <dcterms:created xsi:type="dcterms:W3CDTF">2026-10-09T07:24:52Z</dcterms:created>
  <dcterms:modified xsi:type="dcterms:W3CDTF">2026-10-09T08:16:46Z</dcterms:modified>
</cp:coreProperties>
</file>