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12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1A7907-9303-73C0-AC02-37E53E5FEC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801EDD9-601E-B6E0-B002-EC25283A11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0FD2E85-8513-52F6-4326-40779705F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7EC5D-DC42-40A5-87AC-0B69AFED0308}" type="datetimeFigureOut">
              <a:rPr lang="es-MX" smtClean="0"/>
              <a:t>09/10/2026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1B22E19-E2B2-CBAF-BDF4-96666D8BA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5498934-67D5-E84F-766A-0C2239E7B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1AE00-0BF3-4496-B4E3-FE0EFBDA0DB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933398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CE8C6C-3BC8-9216-DC22-BC5C493211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1259078-5B00-BEE7-0943-C74886F941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5F0E2E1-78D7-A41A-6716-6550E97A83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7EC5D-DC42-40A5-87AC-0B69AFED0308}" type="datetimeFigureOut">
              <a:rPr lang="es-MX" smtClean="0"/>
              <a:t>09/10/2026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01B14BF-0F34-1F3A-54DC-BFEEC8325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BCCCA22-6C09-46BC-0F31-1EEB4FFFD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1AE00-0BF3-4496-B4E3-FE0EFBDA0DB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278611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7ACB4D-0FED-F57C-2009-3CCC173A6B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C6E44C3-0079-9529-1CD6-C67572BFB7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BA638A9-D6D8-ABA7-571E-A10DCA9319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7EC5D-DC42-40A5-87AC-0B69AFED0308}" type="datetimeFigureOut">
              <a:rPr lang="es-MX" smtClean="0"/>
              <a:t>09/10/2026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1C46418-3E2D-8E09-4444-7EBB8EF057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CBFDB70-DEBE-36CE-0284-0025F0D46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1AE00-0BF3-4496-B4E3-FE0EFBDA0DB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225894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062068-E4CB-E03B-F351-7EC8DF807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861D53F-214D-8E42-5FFB-55CEE4931E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22982FD-A495-64E3-CB1F-F987C7E9AF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8E38DA1-40F1-E109-48D9-68F4CBCE83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7EC5D-DC42-40A5-87AC-0B69AFED0308}" type="datetimeFigureOut">
              <a:rPr lang="es-MX" smtClean="0"/>
              <a:t>09/10/2026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AC0D8B8-55D2-7281-98CB-D79773551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8B342C1-FEA1-C3E9-51CF-3B99C66F2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1AE00-0BF3-4496-B4E3-FE0EFBDA0DB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363806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ECD9AE-1351-547D-67FD-575A67EAC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9BBA7F3-C715-C00A-2430-13F9749491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DA83450-DE63-96D5-724F-1916B3FC31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728D811E-EEE8-6D46-0A00-7607F805EB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2BB28D16-2769-FB9E-10F2-2F34874365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2D3BE1D-C76D-BED3-E4F3-0B8579812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7EC5D-DC42-40A5-87AC-0B69AFED0308}" type="datetimeFigureOut">
              <a:rPr lang="es-MX" smtClean="0"/>
              <a:t>09/10/2026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9235917-BE35-A8D0-3E64-8DBB452CA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D8B8C44E-BF63-ACE3-8144-87FE5C0A4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1AE00-0BF3-4496-B4E3-FE0EFBDA0DB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664675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BBB01C-65EE-5BD2-1E38-73A7B947D1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1044401-1AE3-2A4A-516F-8C6961A5D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7EC5D-DC42-40A5-87AC-0B69AFED0308}" type="datetimeFigureOut">
              <a:rPr lang="es-MX" smtClean="0"/>
              <a:t>09/10/2026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123FE01-1018-FBF0-EBB0-B64AAAC18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3E1C76D-9503-FA91-A4E5-C3741DD64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1AE00-0BF3-4496-B4E3-FE0EFBDA0DB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942145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6C61DE2-9758-533E-451F-33EE172FC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7EC5D-DC42-40A5-87AC-0B69AFED0308}" type="datetimeFigureOut">
              <a:rPr lang="es-MX" smtClean="0"/>
              <a:t>09/10/2026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785CA0E-621B-C11E-F3D8-9A8F9BE19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9D4B0C2-2E61-D29D-6BF5-AE69DFE62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1AE00-0BF3-4496-B4E3-FE0EFBDA0DB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684290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A082DE-7C5A-5B49-B826-C1347BECB6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F99A317-7A15-735F-8586-0451200358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F0F07C4-C780-4A54-8934-F3812745ED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170D6A8-988C-C235-31E6-34185C122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7EC5D-DC42-40A5-87AC-0B69AFED0308}" type="datetimeFigureOut">
              <a:rPr lang="es-MX" smtClean="0"/>
              <a:t>09/10/2026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ED04218-BCA2-0CE9-EF96-9F91ACCCE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4C0D439-BFD6-7714-6C86-36459B34A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1AE00-0BF3-4496-B4E3-FE0EFBDA0DB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079526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D97497-78C7-9A4A-3CED-1F78A7EDEB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6E2BCC9-8389-BD67-6739-045E93D0C1B8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F9368FB-EA5B-5FA5-AF8F-BC5B5F58C9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B5422E4-E081-BB83-C965-8E7A874CA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7EC5D-DC42-40A5-87AC-0B69AFED0308}" type="datetimeFigureOut">
              <a:rPr lang="es-MX" smtClean="0"/>
              <a:t>09/10/2026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2468DDE-76B5-2BDB-00ED-F366CF1F3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20B3CE5-06F5-E388-7191-DD9A3B51A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1AE00-0BF3-4496-B4E3-FE0EFBDA0DB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911259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621F01-6503-FC83-AB62-36517DC6C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7CB600C-3535-296D-EFDA-01EE7507B1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FF72B4C-1D61-6FFB-0124-C8D3057A36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7EC5D-DC42-40A5-87AC-0B69AFED0308}" type="datetimeFigureOut">
              <a:rPr lang="es-MX" smtClean="0"/>
              <a:t>09/10/2026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1A732D3-3F74-5038-3423-6EB3B62EA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ADAAA97-C5D4-6D11-1C2C-8A4D6CD80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1AE00-0BF3-4496-B4E3-FE0EFBDA0DB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447278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AE07DC3-8BC4-1E1D-A9EE-CA258E823F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BF2174B-E5E2-C537-4AC0-F8F004085A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7F981DE-0E6E-08D6-9872-2F3A793D2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7EC5D-DC42-40A5-87AC-0B69AFED0308}" type="datetimeFigureOut">
              <a:rPr lang="es-MX" smtClean="0"/>
              <a:t>09/10/2026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DF85EBF-C757-1969-4628-1B635E78A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BB91E9C-FB6B-3C48-720E-4106E15C3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1AE00-0BF3-4496-B4E3-FE0EFBDA0DB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13604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F76C30F-7D5E-0801-9E4A-055B1188C0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319DC22-CE36-D24A-B71B-2884865836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7947028-ABFF-6271-6313-C1978523F0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57EC5D-DC42-40A5-87AC-0B69AFED0308}" type="datetimeFigureOut">
              <a:rPr lang="es-MX" smtClean="0"/>
              <a:t>09/10/2026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06149D1-FC64-B7C4-4B2C-A10584061F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5A19D06-03CB-E8D5-9DB2-00420D620C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51AE00-0BF3-4496-B4E3-FE0EFBDA0DB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860928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expressjs.com/" TargetMode="External"/><Relationship Id="rId2" Type="http://schemas.openxmlformats.org/officeDocument/2006/relationships/hyperlink" Target="https://www.google.com/search?q=https://www.usebruno.com/docs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cs.spring.io/spring-boot/docs/current/reference/html/" TargetMode="External"/><Relationship Id="rId5" Type="http://schemas.openxmlformats.org/officeDocument/2006/relationships/hyperlink" Target="https://www.postgresql.org/docs/" TargetMode="External"/><Relationship Id="rId4" Type="http://schemas.openxmlformats.org/officeDocument/2006/relationships/hyperlink" Target="https://nodejs.org/docs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5155FD-4400-1949-7D48-7D368E2F35E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dirty="0"/>
              <a:t>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2895BDC-BDC9-61B3-273B-FC49B249FC8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MX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4544E0FF-85CF-8086-1C12-CAEF875C79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32">
            <a:extLst>
              <a:ext uri="{FF2B5EF4-FFF2-40B4-BE49-F238E27FC236}">
                <a16:creationId xmlns:a16="http://schemas.microsoft.com/office/drawing/2014/main" id="{11515F15-8C63-BCBA-C520-411E4EBDDC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6748" y="582066"/>
            <a:ext cx="10284542" cy="56938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s-MX" altLang="es-MX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s-MX" altLang="es-MX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       TECNOLOGICO NACIONAL DE MEXICO</a:t>
            </a:r>
            <a:endParaRPr kumimoji="0" lang="es-MX" altLang="es-MX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INSTITUTO TECNOLOGICO DE FRONTERA COMALAPA </a:t>
            </a:r>
            <a:endParaRPr kumimoji="0" lang="es-MX" altLang="es-MX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CARRERA</a:t>
            </a:r>
            <a:endParaRPr kumimoji="0" lang="es-MX" altLang="es-MX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INGENIERIA EN SISTEMAS COMPUTACIONALES</a:t>
            </a:r>
            <a:endParaRPr kumimoji="0" lang="es-MX" altLang="es-MX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MATERIA</a:t>
            </a:r>
            <a:endParaRPr kumimoji="0" lang="es-MX" altLang="es-MX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TALLER DE BASE DE DATOS</a:t>
            </a:r>
            <a:endParaRPr kumimoji="0" lang="es-MX" altLang="es-MX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TRABAJO</a:t>
            </a:r>
            <a:endParaRPr kumimoji="0" lang="es-MX" altLang="es-MX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BANCO DE EJERCICIOS</a:t>
            </a:r>
            <a:endParaRPr kumimoji="0" lang="es-MX" altLang="es-MX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CATEDRATICO</a:t>
            </a:r>
            <a:endParaRPr kumimoji="0" lang="es-MX" altLang="es-MX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ING.FRANCISCO JAVIER MINGO VELAZQUEZ</a:t>
            </a:r>
            <a:endParaRPr kumimoji="0" lang="es-MX" altLang="es-MX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ESTUDIANTE </a:t>
            </a:r>
            <a:endParaRPr kumimoji="0" lang="es-MX" altLang="es-MX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MX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JESUS EDUARDO VILLARREAL LOPEZ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2412600</a:t>
            </a:r>
            <a:r>
              <a:rPr lang="es-MX" altLang="es-MX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76</a:t>
            </a:r>
            <a:endParaRPr kumimoji="0" lang="es-MX" altLang="es-MX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SEMESTRE </a:t>
            </a:r>
            <a:endParaRPr kumimoji="0" lang="es-MX" altLang="es-MX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MX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5</a:t>
            </a:r>
            <a:endParaRPr kumimoji="0" lang="es-MX" altLang="es-MX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FRONTERA COMALAPA FECHA DE ENTREGA: 14</a:t>
            </a:r>
            <a:r>
              <a:rPr lang="es-MX" altLang="es-MX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/09/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2026</a:t>
            </a:r>
            <a:endParaRPr kumimoji="0" lang="es-MX" altLang="es-MX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Imagen 1" descr="Logos Oficiales – Tecnológico Nacional de México">
            <a:extLst>
              <a:ext uri="{FF2B5EF4-FFF2-40B4-BE49-F238E27FC236}">
                <a16:creationId xmlns:a16="http://schemas.microsoft.com/office/drawing/2014/main" id="{3347955A-817B-95EA-3A08-8CEDC2B5B7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11738" y="684442"/>
            <a:ext cx="2386188" cy="1052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n 6" descr="Secretaría de Educación Pública | Secretaría de Educación ...">
            <a:extLst>
              <a:ext uri="{FF2B5EF4-FFF2-40B4-BE49-F238E27FC236}">
                <a16:creationId xmlns:a16="http://schemas.microsoft.com/office/drawing/2014/main" id="{2C71FF88-6510-5D57-2CF8-71AF26ED78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683894" y="597455"/>
            <a:ext cx="2120900" cy="1052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n 2" descr="TecNM | Tecnológico Nacional de México">
            <a:extLst>
              <a:ext uri="{FF2B5EF4-FFF2-40B4-BE49-F238E27FC236}">
                <a16:creationId xmlns:a16="http://schemas.microsoft.com/office/drawing/2014/main" id="{FC01F475-3377-5BBC-0FB9-EC1F7F16E4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080449" y="597455"/>
            <a:ext cx="1980841" cy="12653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884262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F7C026-5EC9-8F27-2AE7-F21367EA9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MX" b="1" dirty="0"/>
              <a:t>INTRODUCCIÓN</a:t>
            </a:r>
            <a:endParaRPr lang="es-MX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E6047367-223B-4191-954C-ADD7945322A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62500" lnSpcReduction="20000"/>
              </a:bodyPr>
              <a:lstStyle/>
              <a:p>
                <a:pPr marL="0" indent="0">
                  <a:buNone/>
                </a:pPr>
                <a:endParaRPr lang="es-MX" b="1" dirty="0"/>
              </a:p>
              <a:p>
                <a:r>
                  <a:rPr lang="es-MX" dirty="0"/>
                  <a:t>El desarrollo de Aplicaciones de Interfaz de Programación (</a:t>
                </a:r>
                <a:r>
                  <a:rPr lang="es-MX" dirty="0" err="1"/>
                  <a:t>APIs</a:t>
                </a:r>
                <a:r>
                  <a:rPr lang="es-MX" dirty="0"/>
                  <a:t>) bajo arquitectura </a:t>
                </a:r>
                <a:r>
                  <a:rPr lang="es-MX" dirty="0" err="1"/>
                  <a:t>RESTful</a:t>
                </a:r>
                <a:r>
                  <a:rPr lang="es-MX" dirty="0"/>
                  <a:t> exige un flujo de trabajo riguroso que abarque desde la compilación del servidor </a:t>
                </a:r>
                <a:r>
                  <a:rPr lang="es-MX" dirty="0" err="1"/>
                  <a:t>backend</a:t>
                </a:r>
                <a:r>
                  <a:rPr lang="es-MX" dirty="0"/>
                  <a:t> hasta la validación de sus respuestas HTTP y la verificación directa de la persistencia de datos. En el ecosistema del desarrollo web moderno, </a:t>
                </a:r>
                <a:r>
                  <a:rPr lang="es-MX" dirty="0" err="1"/>
                  <a:t>frameworks</a:t>
                </a:r>
                <a:r>
                  <a:rPr lang="es-MX" dirty="0"/>
                  <a:t> como </a:t>
                </a:r>
                <a:r>
                  <a:rPr lang="es-MX" b="1" dirty="0"/>
                  <a:t>Spring Boot</a:t>
                </a:r>
                <a:r>
                  <a:rPr lang="es-MX" dirty="0"/>
                  <a:t> (Java) y </a:t>
                </a:r>
                <a:r>
                  <a:rPr lang="es-MX" b="1" dirty="0"/>
                  <a:t>Express.js</a:t>
                </a:r>
                <a:r>
                  <a:rPr lang="es-MX" dirty="0"/>
                  <a:t> (Node.js) representan dos de las herramientas más extendidas para la creación de servicios </a:t>
                </a:r>
                <a:r>
                  <a:rPr lang="es-MX" dirty="0" err="1"/>
                  <a:t>backend</a:t>
                </a:r>
                <a:r>
                  <a:rPr lang="es-MX" dirty="0"/>
                  <a:t> empresariales y ligeros.</a:t>
                </a:r>
              </a:p>
              <a:p>
                <a:r>
                  <a:rPr lang="es-MX" dirty="0"/>
                  <a:t>El presente banco de ejercicios propone un esquema práctico centrado en tres fases fundamentales del ciclo de vida del desarrollo </a:t>
                </a:r>
                <a:r>
                  <a:rPr lang="es-MX" dirty="0" err="1"/>
                  <a:t>backend</a:t>
                </a:r>
                <a:r>
                  <a:rPr lang="es-MX" dirty="0"/>
                  <a:t>:</a:t>
                </a:r>
              </a:p>
              <a:p>
                <a:pPr lvl="0"/>
                <a:r>
                  <a:rPr lang="es-MX" b="1" dirty="0"/>
                  <a:t>Compilación y despliegue del servidor:</a:t>
                </a:r>
                <a:r>
                  <a:rPr lang="es-MX" dirty="0"/>
                  <a:t> Verificación del arranque correcto de los servicios en sus respectivos entornos de desarrollo (IntelliJ IDEA para Spring Boot y Visual Studio Code para Node.js).</a:t>
                </a:r>
              </a:p>
              <a:p>
                <a:pPr lvl="0"/>
                <a:r>
                  <a:rPr lang="es-MX" b="1" dirty="0"/>
                  <a:t>Pruebas de </a:t>
                </a:r>
                <a:r>
                  <a:rPr lang="es-MX" b="1" dirty="0" err="1"/>
                  <a:t>endpoints</a:t>
                </a:r>
                <a:r>
                  <a:rPr lang="es-MX" b="1" dirty="0"/>
                  <a:t> HTTP con Bruno:</a:t>
                </a:r>
                <a:r>
                  <a:rPr lang="es-MX" dirty="0"/>
                  <a:t> Validación de las peticiones GET, POST, PUT y DELETE, asegurando el manejo adecuado de códigos de estado HTTP (</a:t>
                </a:r>
                <a14:m>
                  <m:oMath xmlns:m="http://schemas.openxmlformats.org/officeDocument/2006/math">
                    <m:r>
                      <a:rPr lang="es-MX"/>
                      <m:t>200</m:t>
                    </m:r>
                    <m:r>
                      <m:rPr>
                        <m:nor/>
                      </m:rPr>
                      <a:rPr lang="es-MX"/>
                      <m:t> OK</m:t>
                    </m:r>
                  </m:oMath>
                </a14:m>
                <a:r>
                  <a:rPr lang="es-MX" dirty="0"/>
                  <a:t>, </a:t>
                </a:r>
                <a14:m>
                  <m:oMath xmlns:m="http://schemas.openxmlformats.org/officeDocument/2006/math">
                    <m:r>
                      <a:rPr lang="es-MX"/>
                      <m:t>201</m:t>
                    </m:r>
                    <m:r>
                      <m:rPr>
                        <m:nor/>
                      </m:rPr>
                      <a:rPr lang="es-MX"/>
                      <m:t> Created</m:t>
                    </m:r>
                  </m:oMath>
                </a14:m>
                <a:r>
                  <a:rPr lang="es-MX" dirty="0"/>
                  <a:t>, </a:t>
                </a:r>
                <a14:m>
                  <m:oMath xmlns:m="http://schemas.openxmlformats.org/officeDocument/2006/math">
                    <m:r>
                      <a:rPr lang="es-MX"/>
                      <m:t>204</m:t>
                    </m:r>
                    <m:r>
                      <m:rPr>
                        <m:nor/>
                      </m:rPr>
                      <a:rPr lang="es-MX"/>
                      <m:t> No Content</m:t>
                    </m:r>
                  </m:oMath>
                </a14:m>
                <a:r>
                  <a:rPr lang="es-MX" dirty="0"/>
                  <a:t>, </a:t>
                </a:r>
                <a14:m>
                  <m:oMath xmlns:m="http://schemas.openxmlformats.org/officeDocument/2006/math">
                    <m:r>
                      <a:rPr lang="es-MX"/>
                      <m:t>404</m:t>
                    </m:r>
                    <m:r>
                      <m:rPr>
                        <m:nor/>
                      </m:rPr>
                      <a:rPr lang="es-MX"/>
                      <m:t> Not Found</m:t>
                    </m:r>
                  </m:oMath>
                </a14:m>
                <a:r>
                  <a:rPr lang="es-MX" dirty="0"/>
                  <a:t>) y del formato JSON.</a:t>
                </a:r>
              </a:p>
              <a:p>
                <a:pPr lvl="0"/>
                <a:r>
                  <a:rPr lang="es-MX" b="1" dirty="0"/>
                  <a:t>Inspección de datos en </a:t>
                </a:r>
                <a:r>
                  <a:rPr lang="es-MX" b="1" dirty="0" err="1"/>
                  <a:t>pgAdmin</a:t>
                </a:r>
                <a:r>
                  <a:rPr lang="es-MX" b="1" dirty="0"/>
                  <a:t> (PostgreSQL):</a:t>
                </a:r>
                <a:r>
                  <a:rPr lang="es-MX" dirty="0"/>
                  <a:t> Comprobación directa en el gestor de base de datos relacional para garantizar la integridad referencial, el mapeo de entidades/tablas y la correcta persistencia tras la ejecución de las peticiones.</a:t>
                </a:r>
              </a:p>
              <a:p>
                <a:endParaRPr lang="es-MX" dirty="0"/>
              </a:p>
            </p:txBody>
          </p:sp>
        </mc:Choice>
        <mc:Fallback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E6047367-223B-4191-954C-ADD7945322A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06" r="-406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323226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76B088-EEEB-33E0-6962-5E563C3FB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MX" b="1" dirty="0"/>
              <a:t>JUSTIFICACIÓN</a:t>
            </a:r>
            <a:endParaRPr lang="es-MX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39B03E3C-23A5-4CAA-7DE3-D1B3104605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55000" lnSpcReduction="20000"/>
              </a:bodyPr>
              <a:lstStyle/>
              <a:p>
                <a:endParaRPr lang="es-MX" b="1" dirty="0"/>
              </a:p>
              <a:p>
                <a:r>
                  <a:rPr lang="es-MX" dirty="0"/>
                  <a:t>Garantizar que una API REST sea funcional no se limita únicamente a evitar errores de compilación durante el arranque del código. La interoperabilidad entre el servidor de aplicaciones, los clientes de pruebas HTTP y el motor de base de datos requiere una metodología de prueba integral de extremo a extremo (</a:t>
                </a:r>
                <a:r>
                  <a:rPr lang="es-MX" i="1" dirty="0"/>
                  <a:t>End-</a:t>
                </a:r>
                <a:r>
                  <a:rPr lang="es-MX" i="1" dirty="0" err="1"/>
                  <a:t>to</a:t>
                </a:r>
                <a:r>
                  <a:rPr lang="es-MX" i="1" dirty="0"/>
                  <a:t>-End</a:t>
                </a:r>
                <a:r>
                  <a:rPr lang="es-MX" dirty="0"/>
                  <a:t>).</a:t>
                </a:r>
              </a:p>
              <a:p>
                <a:r>
                  <a:rPr lang="es-MX" dirty="0"/>
                  <a:t>La implementación de este banco de ejercicios se justifica por las siguientes razones:</a:t>
                </a:r>
              </a:p>
              <a:p>
                <a:pPr lvl="0"/>
                <a:r>
                  <a:rPr lang="es-MX" b="1" dirty="0"/>
                  <a:t>Validación del Ciclo Completo de Datos:</a:t>
                </a:r>
                <a:r>
                  <a:rPr lang="es-MX" dirty="0"/>
                  <a:t> Permite confirmar que una solicitud realizada desde un cliente como </a:t>
                </a:r>
                <a:r>
                  <a:rPr lang="es-MX" b="1" dirty="0"/>
                  <a:t>Bruno</a:t>
                </a:r>
                <a:r>
                  <a:rPr lang="es-MX" dirty="0"/>
                  <a:t> no solo reciba un código HTTP exitoso, sino que efectivamente transforme o registre información en las tablas correspondientes dentro de </a:t>
                </a:r>
                <a:r>
                  <a:rPr lang="es-MX" b="1" dirty="0"/>
                  <a:t>PostgreSQL</a:t>
                </a:r>
                <a:r>
                  <a:rPr lang="es-MX" dirty="0"/>
                  <a:t> visualizadas a través de </a:t>
                </a:r>
                <a:r>
                  <a:rPr lang="es-MX" b="1" dirty="0" err="1"/>
                  <a:t>pgAdmin</a:t>
                </a:r>
                <a:r>
                  <a:rPr lang="es-MX" dirty="0"/>
                  <a:t>.</a:t>
                </a:r>
              </a:p>
              <a:p>
                <a:pPr lvl="0"/>
                <a:r>
                  <a:rPr lang="es-MX" b="1" dirty="0"/>
                  <a:t>Estandarización de Pruebas Multi-Tecnología:</a:t>
                </a:r>
                <a:r>
                  <a:rPr lang="es-MX" dirty="0"/>
                  <a:t> Evalúa de forma equitativa el comportamiento de dos entornos tecnológicamente distintos (</a:t>
                </a:r>
                <a:r>
                  <a:rPr lang="es-MX" b="1" dirty="0"/>
                  <a:t>Node.js/Express</a:t>
                </a:r>
                <a:r>
                  <a:rPr lang="es-MX" dirty="0"/>
                  <a:t> con arquitectura asíncrona y </a:t>
                </a:r>
                <a:r>
                  <a:rPr lang="es-MX" b="1" dirty="0"/>
                  <a:t>Spring Boot/JPA</a:t>
                </a:r>
                <a:r>
                  <a:rPr lang="es-MX" dirty="0"/>
                  <a:t> con arquitectura orientada a objetos en capas), permitiendo identificar similitudes y diferencias en sus procesos de despliegue y persistencia.</a:t>
                </a:r>
              </a:p>
              <a:p>
                <a:pPr lvl="0"/>
                <a:r>
                  <a:rPr lang="es-MX" b="1" dirty="0"/>
                  <a:t>Diagnóstico Eficiente de Errores:</a:t>
                </a:r>
                <a:r>
                  <a:rPr lang="es-MX" dirty="0"/>
                  <a:t> Al aislar el flujo en tres fases (Compilación </a:t>
                </a:r>
                <a14:m>
                  <m:oMath xmlns:m="http://schemas.openxmlformats.org/officeDocument/2006/math">
                    <m:r>
                      <a:rPr lang="es-MX"/>
                      <m:t>→</m:t>
                    </m:r>
                  </m:oMath>
                </a14:m>
                <a:r>
                  <a:rPr lang="es-MX" dirty="0"/>
                  <a:t>Prueba HTTP </a:t>
                </a:r>
                <a14:m>
                  <m:oMath xmlns:m="http://schemas.openxmlformats.org/officeDocument/2006/math">
                    <m:r>
                      <a:rPr lang="es-MX"/>
                      <m:t>→</m:t>
                    </m:r>
                  </m:oMath>
                </a14:m>
                <a:r>
                  <a:rPr lang="es-MX" dirty="0"/>
                  <a:t>Base de datos), facilita la detección inmediata de fallas comunes como errores de mapeo en entidades, problemas de conexión en la cadena JDBC/PostgreSQL o desajustes en el formato del cuerpo de las peticiones (</a:t>
                </a:r>
                <a:r>
                  <a:rPr lang="es-MX" i="1" dirty="0"/>
                  <a:t>JSON Body</a:t>
                </a:r>
                <a:r>
                  <a:rPr lang="es-MX" dirty="0"/>
                  <a:t>).</a:t>
                </a:r>
              </a:p>
              <a:p>
                <a:pPr lvl="0"/>
                <a:r>
                  <a:rPr lang="es-MX" b="1" dirty="0"/>
                  <a:t>Consolidación de Herramientas de Industria:</a:t>
                </a:r>
                <a:r>
                  <a:rPr lang="es-MX" dirty="0"/>
                  <a:t> Promueve el uso de clientes de pruebas modernos como </a:t>
                </a:r>
                <a:r>
                  <a:rPr lang="es-MX" b="1" dirty="0"/>
                  <a:t>Bruno</a:t>
                </a:r>
                <a:r>
                  <a:rPr lang="es-MX" dirty="0"/>
                  <a:t> (basado en colecciones legibles y control de versiones) y entornos de administración visual como </a:t>
                </a:r>
                <a:r>
                  <a:rPr lang="es-MX" b="1" dirty="0" err="1"/>
                  <a:t>pgAdmin</a:t>
                </a:r>
                <a:r>
                  <a:rPr lang="es-MX" dirty="0"/>
                  <a:t>, reforzando prácticas estándar utilizadas en entornos de desarrollo profesional.</a:t>
                </a:r>
              </a:p>
              <a:p>
                <a:endParaRPr lang="es-MX" dirty="0"/>
              </a:p>
            </p:txBody>
          </p:sp>
        </mc:Choice>
        <mc:Fallback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39B03E3C-23A5-4CAA-7DE3-D1B3104605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4" r="-58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819125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D5B339F4-93B9-4E04-9721-143AD6782E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734DDD3-F723-4DD3-8ABE-EC0B2AC87D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522324" y="0"/>
            <a:ext cx="7147352" cy="5777808"/>
            <a:chOff x="329184" y="1"/>
            <a:chExt cx="524256" cy="5777808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7C8EA93-3210-4C62-99E9-153C275E3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329184" y="5777809"/>
              <a:ext cx="523824" cy="0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EB7D2A2-F448-44D4-938C-DC84CBCB3B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9184" y="1"/>
              <a:ext cx="524256" cy="553211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1"/>
            <a:ext cx="10999072" cy="532513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7214CF5-7C22-5155-FB66-D3922C6DB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231961"/>
            <a:ext cx="9144000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0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Módulo</a:t>
            </a:r>
            <a:r>
              <a:rPr lang="en-US" sz="6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1: </a:t>
            </a:r>
            <a:r>
              <a:rPr lang="en-US" sz="60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Entorno</a:t>
            </a:r>
            <a:r>
              <a:rPr lang="en-US" sz="6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Node.js &amp; Express (Visual Studio Code)</a:t>
            </a:r>
          </a:p>
        </p:txBody>
      </p:sp>
    </p:spTree>
    <p:extLst>
      <p:ext uri="{BB962C8B-B14F-4D97-AF65-F5344CB8AC3E}">
        <p14:creationId xmlns:p14="http://schemas.microsoft.com/office/powerpoint/2010/main" val="5207462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82E17A4-33DE-3A1B-4DF2-886A00A7E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s-MX" sz="4100" b="1"/>
              <a:t>Ejercicio 1.1: Verificación de Inyección de Variables de Entorno (cafeteria-api)</a:t>
            </a:r>
            <a:endParaRPr lang="es-MX" sz="41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2BA0D71-B389-243E-52E0-026766E350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pPr lvl="0"/>
            <a:r>
              <a:rPr lang="es-MX" sz="1400" b="1" dirty="0"/>
              <a:t>Objetivo:</a:t>
            </a:r>
            <a:r>
              <a:rPr lang="es-MX" sz="1400" dirty="0"/>
              <a:t> Confirmar que la API en Node.js lea correctamente el archivo de configuración .</a:t>
            </a:r>
            <a:r>
              <a:rPr lang="es-MX" sz="1400" dirty="0" err="1"/>
              <a:t>env</a:t>
            </a:r>
            <a:r>
              <a:rPr lang="es-MX" sz="1400" dirty="0"/>
              <a:t> y levante el servidor en el puerto especificado.</a:t>
            </a:r>
          </a:p>
          <a:p>
            <a:pPr lvl="0"/>
            <a:r>
              <a:rPr lang="es-MX" sz="1400" b="1" dirty="0"/>
              <a:t>Instrucciones:</a:t>
            </a:r>
            <a:endParaRPr lang="es-MX" sz="1400" dirty="0"/>
          </a:p>
          <a:p>
            <a:pPr lvl="1"/>
            <a:r>
              <a:rPr lang="es-MX" sz="1400" dirty="0"/>
              <a:t>Abre el proyecto </a:t>
            </a:r>
            <a:r>
              <a:rPr lang="es-MX" sz="1400" dirty="0" err="1"/>
              <a:t>cafeteria</a:t>
            </a:r>
            <a:r>
              <a:rPr lang="es-MX" sz="1400" dirty="0"/>
              <a:t>-api en Visual Studio Code.</a:t>
            </a:r>
          </a:p>
          <a:p>
            <a:pPr lvl="1"/>
            <a:r>
              <a:rPr lang="es-MX" sz="1400" dirty="0"/>
              <a:t>Modifica la variable PORT=3000 en el archivo .</a:t>
            </a:r>
            <a:r>
              <a:rPr lang="es-MX" sz="1400" dirty="0" err="1"/>
              <a:t>env</a:t>
            </a:r>
            <a:r>
              <a:rPr lang="es-MX" sz="1400" dirty="0"/>
              <a:t> a PORT=4000.</a:t>
            </a:r>
          </a:p>
          <a:p>
            <a:pPr lvl="1"/>
            <a:r>
              <a:rPr lang="es-MX" sz="1400" dirty="0"/>
              <a:t>Ejecuta el comando en la terminal:</a:t>
            </a:r>
            <a:endParaRPr lang="es-MX" sz="1400" dirty="0">
              <a:effectLst/>
            </a:endParaRPr>
          </a:p>
          <a:p>
            <a:pPr marL="457200" lvl="1" indent="0">
              <a:buNone/>
            </a:pPr>
            <a:r>
              <a:rPr lang="es-MX" sz="1400" dirty="0"/>
              <a:t>       “</a:t>
            </a:r>
            <a:r>
              <a:rPr lang="es-MX" sz="1400" dirty="0" err="1"/>
              <a:t>npm</a:t>
            </a:r>
            <a:r>
              <a:rPr lang="es-MX" sz="1400" dirty="0"/>
              <a:t> run </a:t>
            </a:r>
            <a:r>
              <a:rPr lang="es-MX" sz="1400" dirty="0" err="1"/>
              <a:t>dev</a:t>
            </a:r>
            <a:r>
              <a:rPr lang="es-MX" sz="1400" dirty="0"/>
              <a:t>”</a:t>
            </a:r>
          </a:p>
          <a:p>
            <a:pPr lvl="0"/>
            <a:r>
              <a:rPr lang="es-MX" sz="1400" b="1" dirty="0"/>
              <a:t>Criterio de Validación de Compilación:</a:t>
            </a:r>
            <a:r>
              <a:rPr lang="es-MX" sz="1400" dirty="0"/>
              <a:t> La terminal de </a:t>
            </a:r>
            <a:r>
              <a:rPr lang="es-MX" sz="1400" dirty="0" err="1"/>
              <a:t>nodemon</a:t>
            </a:r>
            <a:r>
              <a:rPr lang="es-MX" sz="1400" dirty="0"/>
              <a:t> debe mostrar que inyectó las 6 variables del archivo .</a:t>
            </a:r>
            <a:r>
              <a:rPr lang="es-MX" sz="1400" dirty="0" err="1"/>
              <a:t>env</a:t>
            </a:r>
            <a:r>
              <a:rPr lang="es-MX" sz="1400" dirty="0"/>
              <a:t> y desplegar el mensaje: Servidor de la cafetería corriendo en http://localhost:4000</a:t>
            </a:r>
          </a:p>
          <a:p>
            <a:endParaRPr lang="es-MX" sz="14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44A6EBC-C115-A2D8-E26E-D4DC8975CC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532" y="2931488"/>
            <a:ext cx="5150277" cy="2819777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948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4E1350C-9BF3-C4DD-F1A5-D7F04E1D8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s-MX" sz="4100" b="1"/>
              <a:t>Ejercicio 1.2: Diagnóstico de Conexión a Base de Datos en Node.js</a:t>
            </a:r>
            <a:endParaRPr lang="es-MX" sz="41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C93A4FA-21AC-648A-961A-8D04D41A4B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pPr lvl="0"/>
            <a:r>
              <a:rPr lang="es-MX" sz="1400" b="1"/>
              <a:t>Objetivo:</a:t>
            </a:r>
            <a:r>
              <a:rPr lang="es-MX" sz="1400"/>
              <a:t> Validar que el pool de conexiones de PostgreSQL (pg) no rompa el inicio de la API cuando la base de datos cafeteria_db está activa.</a:t>
            </a:r>
          </a:p>
          <a:p>
            <a:pPr lvl="0"/>
            <a:r>
              <a:rPr lang="es-MX" sz="1400" b="1"/>
              <a:t>Instrucciones:</a:t>
            </a:r>
            <a:endParaRPr lang="es-MX" sz="1400"/>
          </a:p>
          <a:p>
            <a:pPr lvl="1"/>
            <a:r>
              <a:rPr lang="es-MX" sz="1400"/>
              <a:t>Asegúrate de que el servicio de PostgreSQL esté corriendo localmente en el puerto 5432.</a:t>
            </a:r>
          </a:p>
          <a:p>
            <a:pPr lvl="1"/>
            <a:r>
              <a:rPr lang="es-MX" sz="1400"/>
              <a:t>Ejecuta el script de inicio en VS Code:</a:t>
            </a:r>
          </a:p>
          <a:p>
            <a:pPr marL="457200" lvl="1" indent="0">
              <a:buNone/>
            </a:pPr>
            <a:r>
              <a:rPr lang="es-MX" sz="1400"/>
              <a:t>     “node src/index.js”</a:t>
            </a:r>
          </a:p>
          <a:p>
            <a:pPr lvl="0"/>
            <a:r>
              <a:rPr lang="es-MX" sz="1400" b="1"/>
              <a:t>Criterio de Validación de Compilación:</a:t>
            </a:r>
            <a:r>
              <a:rPr lang="es-MX" sz="1400"/>
              <a:t> El proceso de Node debe iniciar sin arrojar excepciones no capturadas (UnhandledPromiseRejectionWarning o ECONNREFUSED) en la consola.</a:t>
            </a:r>
          </a:p>
          <a:p>
            <a:endParaRPr lang="es-MX" sz="140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9567692-8C7C-FE30-B46D-E252A16447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532" y="2931488"/>
            <a:ext cx="5150277" cy="2819777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37199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D5B339F4-93B9-4E04-9721-143AD6782E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734DDD3-F723-4DD3-8ABE-EC0B2AC87D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522324" y="0"/>
            <a:ext cx="7147352" cy="5777808"/>
            <a:chOff x="329184" y="1"/>
            <a:chExt cx="524256" cy="5777808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7C8EA93-3210-4C62-99E9-153C275E3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329184" y="5777809"/>
              <a:ext cx="523824" cy="0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EB7D2A2-F448-44D4-938C-DC84CBCB3B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9184" y="1"/>
              <a:ext cx="524256" cy="553211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1"/>
            <a:ext cx="10999072" cy="532513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2223B9C-C4B5-D5E3-D60B-16114CFD72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231961"/>
            <a:ext cx="9144000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0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Módulo</a:t>
            </a:r>
            <a:r>
              <a:rPr lang="en-US" sz="6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2: </a:t>
            </a:r>
            <a:r>
              <a:rPr lang="en-US" sz="60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Entorno</a:t>
            </a:r>
            <a:r>
              <a:rPr lang="en-US" sz="6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Java &amp; Spring Boot (IntelliJ IDEA)</a:t>
            </a:r>
          </a:p>
        </p:txBody>
      </p:sp>
    </p:spTree>
    <p:extLst>
      <p:ext uri="{BB962C8B-B14F-4D97-AF65-F5344CB8AC3E}">
        <p14:creationId xmlns:p14="http://schemas.microsoft.com/office/powerpoint/2010/main" val="33173495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C264F1A-7691-F3B3-E8DE-90BF31BC57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s-MX" sz="3700" b="1"/>
              <a:t>Ejercicio 2.1: Resolución de Incompatibilidad del Compilador JDK (mi-api-rest)</a:t>
            </a:r>
            <a:endParaRPr lang="es-MX" sz="370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A0B9D8A-FEF2-E3D4-1400-43DE914801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pPr lvl="0"/>
            <a:r>
              <a:rPr lang="es-MX" sz="1300" b="1"/>
              <a:t>Objetivo:</a:t>
            </a:r>
            <a:r>
              <a:rPr lang="es-MX" sz="1300"/>
              <a:t> Corregir el error de compilación TypeTag :: UNKNOWN alineando la versión del SDK y habilitando el procesamiento de anotaciones de Lombok.</a:t>
            </a:r>
          </a:p>
          <a:p>
            <a:pPr lvl="0"/>
            <a:r>
              <a:rPr lang="es-MX" sz="1300" b="1"/>
              <a:t>Instrucciones:</a:t>
            </a:r>
            <a:endParaRPr lang="es-MX" sz="1300"/>
          </a:p>
          <a:p>
            <a:pPr lvl="1"/>
            <a:r>
              <a:rPr lang="es-MX" sz="1300"/>
              <a:t>Abre el proyecto mi-api-rest en IntelliJ IDEA.</a:t>
            </a:r>
          </a:p>
          <a:p>
            <a:pPr lvl="1"/>
            <a:r>
              <a:rPr lang="es-MX" sz="1300"/>
              <a:t>Configura el </a:t>
            </a:r>
            <a:r>
              <a:rPr lang="es-MX" sz="1300" b="1"/>
              <a:t>Project SDK</a:t>
            </a:r>
            <a:r>
              <a:rPr lang="es-MX" sz="1300"/>
              <a:t> en Java 17 dentro de File ➔ Project Structure.</a:t>
            </a:r>
          </a:p>
          <a:p>
            <a:pPr lvl="1"/>
            <a:r>
              <a:rPr lang="es-MX" sz="1300"/>
              <a:t>En Settings ➔ Build, Execution, Deployment ➔ Compiler ➔ Annotation Processors, marca la casilla </a:t>
            </a:r>
            <a:r>
              <a:rPr lang="es-MX" sz="1300" b="1"/>
              <a:t>Enable annotation processing</a:t>
            </a:r>
            <a:r>
              <a:rPr lang="es-MX" sz="1300"/>
              <a:t>.</a:t>
            </a:r>
          </a:p>
          <a:p>
            <a:pPr lvl="1"/>
            <a:r>
              <a:rPr lang="es-MX" sz="1300"/>
              <a:t>Realiza una reconstrucción completa del proyecto (Build ➔ Rebuild Project).</a:t>
            </a:r>
          </a:p>
          <a:p>
            <a:pPr lvl="0"/>
            <a:r>
              <a:rPr lang="es-MX" sz="1300" b="1"/>
              <a:t>Criterio de Validación de Compilación:</a:t>
            </a:r>
            <a:r>
              <a:rPr lang="es-MX" sz="1300"/>
              <a:t> La pestaña </a:t>
            </a:r>
            <a:r>
              <a:rPr lang="es-MX" sz="1300" b="1"/>
              <a:t>Build Output</a:t>
            </a:r>
            <a:r>
              <a:rPr lang="es-MX" sz="1300"/>
              <a:t> debe finalizar con el mensaje Build completed successfully sin errores de inicialización.</a:t>
            </a:r>
          </a:p>
          <a:p>
            <a:endParaRPr lang="es-MX" sz="130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F8576221-927F-25F4-BC00-909EAB1D11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532" y="2892861"/>
            <a:ext cx="5150277" cy="2897031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4588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153049C-16F2-5C2F-CFE1-C072889367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s-MX" sz="4100" b="1"/>
              <a:t>Ejercicio 2.2: Compilación y Despliegue de Servidor Tomcat (MiApiRestApplication)</a:t>
            </a:r>
            <a:endParaRPr lang="es-MX" sz="41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6881CEA-791B-960B-1DF1-3013B77131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pPr lvl="0"/>
            <a:r>
              <a:rPr lang="es-MX" sz="1400" b="1"/>
              <a:t>Objetivo:</a:t>
            </a:r>
            <a:r>
              <a:rPr lang="es-MX" sz="1400"/>
              <a:t> Inicializar la API REST en Spring Boot y verificar la creación automática de tablas en PostgreSQL vía Hibernate.</a:t>
            </a:r>
          </a:p>
          <a:p>
            <a:pPr lvl="0"/>
            <a:r>
              <a:rPr lang="es-MX" sz="1400" b="1"/>
              <a:t>Instrucciones:</a:t>
            </a:r>
            <a:endParaRPr lang="es-MX" sz="1400"/>
          </a:p>
          <a:p>
            <a:pPr lvl="1"/>
            <a:r>
              <a:rPr lang="es-MX" sz="1400"/>
              <a:t>Abre el archivo application.properties y confirma la conexión a jdbc:postgresql://localhost:5432/db_contacto.</a:t>
            </a:r>
          </a:p>
          <a:p>
            <a:pPr lvl="1"/>
            <a:r>
              <a:rPr lang="es-MX" sz="1400"/>
              <a:t>Ejecuta la clase principal MiApiRestApplication.java usando la acción </a:t>
            </a:r>
            <a:r>
              <a:rPr lang="es-MX" sz="1400" b="1"/>
              <a:t>Run (Play)</a:t>
            </a:r>
            <a:r>
              <a:rPr lang="es-MX" sz="1400"/>
              <a:t> en IntelliJ IDEA.</a:t>
            </a:r>
          </a:p>
          <a:p>
            <a:pPr lvl="0"/>
            <a:r>
              <a:rPr lang="es-MX" sz="1400" b="1"/>
              <a:t>Criterio de Validación de Compilación:</a:t>
            </a:r>
            <a:r>
              <a:rPr lang="es-MX" sz="1400"/>
              <a:t> La consola de Spring Boot debe mostrar el logo ASCII de Spring, el log de inicialización de Hibernate/JPA y la confirmación: Tomcat started on port 8080 (http) with context path ''.</a:t>
            </a:r>
          </a:p>
          <a:p>
            <a:endParaRPr lang="es-MX" sz="140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19BAD0A-4F8E-84BC-B132-5B47C55AA5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532" y="2892861"/>
            <a:ext cx="5150277" cy="2897031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6425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974BA6A-D361-FC0A-AEA5-245C08AAB4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pPr algn="ctr"/>
            <a:r>
              <a:rPr lang="es-MX" sz="4800" b="1" dirty="0"/>
              <a:t>CONCLUSIÓN</a:t>
            </a:r>
            <a:endParaRPr lang="es-MX" sz="48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56D35DF-370A-18E7-E251-112C5F3FF2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endParaRPr lang="es-MX" sz="1100" b="1"/>
          </a:p>
          <a:p>
            <a:r>
              <a:rPr lang="es-MX" sz="1100"/>
              <a:t>La implementación de este flujo integral de verificación entre </a:t>
            </a:r>
            <a:r>
              <a:rPr lang="es-MX" sz="1100" b="1"/>
              <a:t>Spring Boot</a:t>
            </a:r>
            <a:r>
              <a:rPr lang="es-MX" sz="1100"/>
              <a:t> (Java) y </a:t>
            </a:r>
            <a:r>
              <a:rPr lang="es-MX" sz="1100" b="1"/>
              <a:t>Express.js</a:t>
            </a:r>
            <a:r>
              <a:rPr lang="es-MX" sz="1100"/>
              <a:t> (Node.js) demuestra la importancia de validar las arquitecturas backend más allá de la simple compilación. A través de la interacción coordinada con </a:t>
            </a:r>
            <a:r>
              <a:rPr lang="es-MX" sz="1100" b="1"/>
              <a:t>Bruno</a:t>
            </a:r>
            <a:r>
              <a:rPr lang="es-MX" sz="1100"/>
              <a:t> y </a:t>
            </a:r>
            <a:r>
              <a:rPr lang="es-MX" sz="1100" b="1"/>
              <a:t>pgAdmin</a:t>
            </a:r>
            <a:r>
              <a:rPr lang="es-MX" sz="1100"/>
              <a:t>, se comprobó que ambas soluciones logran abstraer con éxito la complejidad del manejo de peticiones HTTP y la gestión de bases de datos relacionales en </a:t>
            </a:r>
            <a:r>
              <a:rPr lang="es-MX" sz="1100" b="1"/>
              <a:t>PostgreSQL</a:t>
            </a:r>
            <a:r>
              <a:rPr lang="es-MX" sz="1100"/>
              <a:t>.</a:t>
            </a:r>
          </a:p>
          <a:p>
            <a:r>
              <a:rPr lang="es-MX" sz="1100"/>
              <a:t>Mientras que Spring Boot ofrece una estructura altamente tipada y guiada por convenciones con Spring Data JPA, Express.js brinda una arquitectura ligera e inyección flexible de entornos de ejecución mediante Node.js y paquetes ORM/driver. El uso sistemático de clientes de pruebas HTTP como Bruno asegura que la comunicación entre cliente y servidor respete las especificaciones RESTful, mientras que la auditoría en pgAdmin valida de forma directa la integridad y persistencia definitiva de los datos. </a:t>
            </a:r>
          </a:p>
          <a:p>
            <a:endParaRPr lang="es-MX" sz="1100"/>
          </a:p>
        </p:txBody>
      </p:sp>
      <p:pic>
        <p:nvPicPr>
          <p:cNvPr id="7" name="Graphic 6" descr="Web Design">
            <a:extLst>
              <a:ext uri="{FF2B5EF4-FFF2-40B4-BE49-F238E27FC236}">
                <a16:creationId xmlns:a16="http://schemas.microsoft.com/office/drawing/2014/main" id="{D35B8270-31B6-A79A-9F60-0B35C162B7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29548" y="2484255"/>
            <a:ext cx="3714244" cy="3714244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5924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87CFB4C-B1C1-765C-67A0-D2C6EC988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pPr algn="ctr"/>
            <a:r>
              <a:rPr lang="es-MX" sz="5400" b="1"/>
              <a:t>FUENTES DE INFORMACIÓN</a:t>
            </a:r>
            <a:endParaRPr lang="es-MX" sz="540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0C47A0F-507E-658D-5308-4E4F58618B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anchor="ctr">
            <a:normAutofit/>
          </a:bodyPr>
          <a:lstStyle/>
          <a:p>
            <a:pPr lvl="0"/>
            <a:r>
              <a:rPr lang="es-MX" sz="1700" b="1"/>
              <a:t>Bruno Team.</a:t>
            </a:r>
            <a:r>
              <a:rPr lang="es-MX" sz="1700"/>
              <a:t> (2026). </a:t>
            </a:r>
            <a:r>
              <a:rPr lang="es-MX" sz="1700" i="1"/>
              <a:t>Bruno - Fast and Git-Friendly Open Source API Client Documentation</a:t>
            </a:r>
            <a:r>
              <a:rPr lang="es-MX" sz="1700"/>
              <a:t>. Recuperado de </a:t>
            </a:r>
            <a:r>
              <a:rPr lang="es-MX" sz="1700">
                <a:hlinkClick r:id="rId2"/>
              </a:rPr>
              <a:t>https://www.usebruno.com/docs</a:t>
            </a:r>
            <a:endParaRPr lang="es-MX" sz="1700"/>
          </a:p>
          <a:p>
            <a:pPr lvl="0"/>
            <a:r>
              <a:rPr lang="es-MX" sz="1700" b="1"/>
              <a:t>Express.js Team.</a:t>
            </a:r>
            <a:r>
              <a:rPr lang="es-MX" sz="1700"/>
              <a:t> (2026). </a:t>
            </a:r>
            <a:r>
              <a:rPr lang="es-MX" sz="1700" i="1"/>
              <a:t>Express - Fast, unopinionated, minimalist web framework for Node.js</a:t>
            </a:r>
            <a:r>
              <a:rPr lang="es-MX" sz="1700"/>
              <a:t>. Recuperado de </a:t>
            </a:r>
            <a:r>
              <a:rPr lang="es-MX" sz="1700">
                <a:hlinkClick r:id="rId3"/>
              </a:rPr>
              <a:t>https://expressjs.com/</a:t>
            </a:r>
            <a:endParaRPr lang="es-MX" sz="1700"/>
          </a:p>
          <a:p>
            <a:pPr lvl="0"/>
            <a:r>
              <a:rPr lang="es-MX" sz="1700" b="1"/>
              <a:t>Node.js Foundation.</a:t>
            </a:r>
            <a:r>
              <a:rPr lang="es-MX" sz="1700"/>
              <a:t> (2026). </a:t>
            </a:r>
            <a:r>
              <a:rPr lang="es-MX" sz="1700" i="1"/>
              <a:t>Node.js v20 LTS Documentation &amp; Event-Driven Architecture</a:t>
            </a:r>
            <a:r>
              <a:rPr lang="es-MX" sz="1700"/>
              <a:t>. Recuperado de </a:t>
            </a:r>
            <a:r>
              <a:rPr lang="es-MX" sz="1700">
                <a:hlinkClick r:id="rId4"/>
              </a:rPr>
              <a:t>https://nodejs.org/docs/</a:t>
            </a:r>
            <a:endParaRPr lang="es-MX" sz="1700"/>
          </a:p>
          <a:p>
            <a:pPr lvl="0"/>
            <a:r>
              <a:rPr lang="es-MX" sz="1700" b="1"/>
              <a:t>PostgreSQL Global Development Group.</a:t>
            </a:r>
            <a:r>
              <a:rPr lang="es-MX" sz="1700"/>
              <a:t> (2026). </a:t>
            </a:r>
            <a:r>
              <a:rPr lang="es-MX" sz="1700" i="1"/>
              <a:t>PostgreSQL 17.5 Documentation: Administration and Management via pgAdmin 4</a:t>
            </a:r>
            <a:r>
              <a:rPr lang="es-MX" sz="1700"/>
              <a:t>. Recuperado de </a:t>
            </a:r>
            <a:r>
              <a:rPr lang="es-MX" sz="1700">
                <a:hlinkClick r:id="rId5"/>
              </a:rPr>
              <a:t>https://www.postgresql.org/docs/</a:t>
            </a:r>
            <a:endParaRPr lang="es-MX" sz="1700"/>
          </a:p>
          <a:p>
            <a:pPr lvl="0"/>
            <a:r>
              <a:rPr lang="es-MX" sz="1700" b="1"/>
              <a:t>Spring Team.</a:t>
            </a:r>
            <a:r>
              <a:rPr lang="es-MX" sz="1700"/>
              <a:t> (2026). </a:t>
            </a:r>
            <a:r>
              <a:rPr lang="es-MX" sz="1700" i="1"/>
              <a:t>Spring Boot Reference Documentation (v3.2.5)</a:t>
            </a:r>
            <a:r>
              <a:rPr lang="es-MX" sz="1700"/>
              <a:t>. VMware Tanzu. Recuperado de </a:t>
            </a:r>
            <a:r>
              <a:rPr lang="es-MX" sz="1700">
                <a:hlinkClick r:id="rId6"/>
              </a:rPr>
              <a:t>https://docs.spring.io/spring-boot/docs/current/reference/html/</a:t>
            </a:r>
            <a:endParaRPr lang="es-MX" sz="1700"/>
          </a:p>
          <a:p>
            <a:pPr lvl="0"/>
            <a:r>
              <a:rPr lang="es-MX" sz="1700" b="1"/>
              <a:t>Walls, C.</a:t>
            </a:r>
            <a:r>
              <a:rPr lang="es-MX" sz="1700"/>
              <a:t> (2022). </a:t>
            </a:r>
            <a:r>
              <a:rPr lang="es-MX" sz="1700" i="1"/>
              <a:t>Spring in Action</a:t>
            </a:r>
            <a:r>
              <a:rPr lang="es-MX" sz="1700"/>
              <a:t> (6th ed.). Manning Publications.</a:t>
            </a:r>
          </a:p>
          <a:p>
            <a:endParaRPr lang="es-MX" sz="1700"/>
          </a:p>
        </p:txBody>
      </p:sp>
    </p:spTree>
    <p:extLst>
      <p:ext uri="{BB962C8B-B14F-4D97-AF65-F5344CB8AC3E}">
        <p14:creationId xmlns:p14="http://schemas.microsoft.com/office/powerpoint/2010/main" val="52875540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1371</Words>
  <Application>Microsoft Office PowerPoint</Application>
  <PresentationFormat>Panorámica</PresentationFormat>
  <Paragraphs>74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Times New Roman</vt:lpstr>
      <vt:lpstr>Tema de Office</vt:lpstr>
      <vt:lpstr>o</vt:lpstr>
      <vt:lpstr>INTRODUCCIÓN</vt:lpstr>
      <vt:lpstr>JUSTIFICACIÓN</vt:lpstr>
      <vt:lpstr>Módulo 1: Entorno Node.js &amp; Express (Visual Studio Code)</vt:lpstr>
      <vt:lpstr>Ejercicio 1.1: Verificación de Inyección de Variables de Entorno (cafeteria-api)</vt:lpstr>
      <vt:lpstr>Ejercicio 1.2: Diagnóstico de Conexión a Base de Datos en Node.js</vt:lpstr>
      <vt:lpstr>Módulo 2: Entorno Java &amp; Spring Boot (IntelliJ IDEA)</vt:lpstr>
      <vt:lpstr>Ejercicio 2.1: Resolución de Incompatibilidad del Compilador JDK (mi-api-rest)</vt:lpstr>
      <vt:lpstr>Ejercicio 2.2: Compilación y Despliegue de Servidor Tomcat (MiApiRestApplication)</vt:lpstr>
      <vt:lpstr>CONCLUSIÓN</vt:lpstr>
      <vt:lpstr>FUENTES DE INFORMACIÓN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Jesus Eduardo Villarreal Lopez</dc:creator>
  <cp:lastModifiedBy>Jesus Eduardo Villarreal Lopez</cp:lastModifiedBy>
  <cp:revision>1</cp:revision>
  <dcterms:created xsi:type="dcterms:W3CDTF">2026-10-09T08:40:35Z</dcterms:created>
  <dcterms:modified xsi:type="dcterms:W3CDTF">2026-10-09T08:56:13Z</dcterms:modified>
</cp:coreProperties>
</file>